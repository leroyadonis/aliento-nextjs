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5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7059">
              <a:alpha val="30000"/>
            </a:srgbClr>
          </a:solidFill>
          <a:ln w="12700">
            <a:solidFill>
              <a:srgbClr val="5E8A7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ALIENTO MEDICAL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
</a:t>
            </a:r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Works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health screening &amp; behavioural intervention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A8C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for your workforce — R500 per employee per year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2560320" cy="640080"/>
          </a:xfrm>
          <a:prstGeom prst="roundRect">
            <a:avLst>
              <a:gd name="adj" fmla="val 17857"/>
            </a:avLst>
          </a:prstGeom>
          <a:solidFill>
            <a:srgbClr val="5E8A70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4754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R500 / employee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Dr. Leegale Adonis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Breathe, Screen, Live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A5E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 of</a:t>
            </a:r>
            <a:endParaRPr lang="en-US" sz="3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Health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743200"/>
            <a:ext cx="3474720" cy="54864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260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deaths in SA caused by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non-communicable diseases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7432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2743200"/>
            <a:ext cx="3474720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9260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37490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Africans with undiagnosed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7432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2743200"/>
            <a:ext cx="3474720" cy="54864"/>
          </a:xfrm>
          <a:prstGeom prst="rect">
            <a:avLst/>
          </a:prstGeom>
          <a:solidFill>
            <a:srgbClr val="3A5E4A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29260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321040" y="37490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uptake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preventative health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Adonis — PhD research: 87% of employees in a major SA retail study had at least one undiagnosed risk factor.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Breathe, Screen, Live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3A5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400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Poor Health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Your Business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743200"/>
            <a:ext cx="3474720" cy="54864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R42B+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productivity loss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employee illness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South Africa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274320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2743200"/>
            <a:ext cx="3474720" cy="54864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54880" y="3657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payroll lost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absenteeism &amp; presenteeism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4663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absence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743200"/>
            <a:ext cx="3474720" cy="54864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3.5x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503920" y="3657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workplace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programmes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dollar invested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employees are 2.5x more productive and 40% less likely to leave.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Breathe, Screen, Live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3A5E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the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Aliento Wellness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0" y="914400"/>
            <a:ext cx="6217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0" y="1143000"/>
            <a:ext cx="640080" cy="640080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051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1463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on-site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screening for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employees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2743200"/>
            <a:ext cx="6217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2971800"/>
            <a:ext cx="640080" cy="640080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3291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Patient-adapted behavioural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intervention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each result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4572000"/>
            <a:ext cx="6217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4800600"/>
            <a:ext cx="640080" cy="640080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4800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onward referral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to trusted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providers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5E8A70">
              <a:alpha val="80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57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R500</a:t>
            </a:r>
            <a:pPr algn="ctr" indent="0" marL="0">
              <a:buNone/>
            </a:pPr>
            <a:endParaRPr lang="en-US" sz="3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employee per year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Breathe, Screen, Live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Scalable. Proven.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423160"/>
            <a:ext cx="777240" cy="777240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23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069080"/>
            <a:ext cx="1554480" cy="0"/>
          </a:xfrm>
          <a:prstGeom prst="line">
            <a:avLst/>
          </a:prstGeom>
          <a:noFill/>
          <a:ln w="6350">
            <a:solidFill>
              <a:srgbClr val="7C9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160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screening 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premises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788920" y="228600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423160"/>
            <a:ext cx="777240" cy="777240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423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80360" y="3291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63240" y="4069080"/>
            <a:ext cx="1554480" cy="0"/>
          </a:xfrm>
          <a:prstGeom prst="line">
            <a:avLst/>
          </a:prstGeom>
          <a:noFill/>
          <a:ln w="6350">
            <a:solidFill>
              <a:srgbClr val="7C9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4160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employee gets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confidential report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120640" y="228600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0" y="2423160"/>
            <a:ext cx="777240" cy="777240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2423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12080" y="3291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94960" y="4069080"/>
            <a:ext cx="1554480" cy="0"/>
          </a:xfrm>
          <a:prstGeom prst="line">
            <a:avLst/>
          </a:prstGeom>
          <a:noFill/>
          <a:ln w="6350">
            <a:solidFill>
              <a:srgbClr val="7C9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4160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lifestyle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452360" y="228600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92440" y="2423160"/>
            <a:ext cx="777240" cy="777240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2423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543800" y="3291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Onward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26680" y="4069080"/>
            <a:ext cx="1554480" cy="0"/>
          </a:xfrm>
          <a:prstGeom prst="line">
            <a:avLst/>
          </a:prstGeom>
          <a:noFill/>
          <a:ln w="6350">
            <a:solidFill>
              <a:srgbClr val="7C9E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4160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pharmacy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specialist network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64040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784080" y="228600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424160" y="2423160"/>
            <a:ext cx="777240" cy="777240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34" name="Text 32"/>
          <p:cNvSpPr/>
          <p:nvPr/>
        </p:nvSpPr>
        <p:spPr>
          <a:xfrm>
            <a:off x="10424160" y="2423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875520" y="3291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058400" y="4069080"/>
            <a:ext cx="1554480" cy="0"/>
          </a:xfrm>
          <a:prstGeom prst="line">
            <a:avLst/>
          </a:prstGeom>
          <a:noFill/>
          <a:ln w="6350">
            <a:solidFill>
              <a:srgbClr val="7C9E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21240" y="4160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outcomes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Breathe, Screen, Live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3A5E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Price.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Included.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R500</a:t>
            </a:r>
            <a:pPr algn="ctr" indent="0" marL="0">
              <a:buNone/>
            </a:pPr>
            <a:endParaRPr lang="en-US" sz="5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8C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employee</a:t>
            </a:r>
            <a:endParaRPr lang="en-US" sz="5600" dirty="0"/>
          </a:p>
          <a:p>
            <a:pPr algn="ctr" indent="0" marL="0">
              <a:buNone/>
            </a:pPr>
            <a:endParaRPr lang="en-US" sz="5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Comprehensive health screening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Confidential individual reports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Patient-adapted behavioural intervention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Structured onward referral pathway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Multi-disciplinary team coordination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Annual follow-up &amp; progress tracking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4389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C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R42 per month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A8C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employee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discounts available for 500+ employees. No hidden fees. No lock-in contracts.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Breathe, Screen, Live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NETWORK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Care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0" y="2286000"/>
            <a:ext cx="1828800" cy="1828800"/>
          </a:xfrm>
          <a:prstGeom prst="ellipse">
            <a:avLst/>
          </a:prstGeom>
          <a:solidFill>
            <a:srgbClr val="3A5E4A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0" y="2286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3200400"/>
            <a:ext cx="-4114800" cy="-1097280"/>
          </a:xfrm>
          <a:prstGeom prst="line">
            <a:avLst/>
          </a:prstGeom>
          <a:noFill/>
          <a:ln w="12700">
            <a:solidFill>
              <a:srgbClr val="7C9E8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371600" y="16459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5E8A70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3200400"/>
            <a:ext cx="-3657600" cy="1645920"/>
          </a:xfrm>
          <a:prstGeom prst="line">
            <a:avLst/>
          </a:prstGeom>
          <a:noFill/>
          <a:ln w="12700">
            <a:solidFill>
              <a:srgbClr val="7C9E8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828800" y="43891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5E8A70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28800" y="4389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3200400"/>
            <a:ext cx="2286000" cy="-1097280"/>
          </a:xfrm>
          <a:prstGeom prst="line">
            <a:avLst/>
          </a:prstGeom>
          <a:noFill/>
          <a:ln w="12700">
            <a:solidFill>
              <a:srgbClr val="7C9E8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772400" y="16459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5E8A70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Dietitians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Nutritionists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3200400"/>
            <a:ext cx="3200400" cy="914400"/>
          </a:xfrm>
          <a:prstGeom prst="line">
            <a:avLst/>
          </a:prstGeom>
          <a:noFill/>
          <a:ln w="12700">
            <a:solidFill>
              <a:srgbClr val="7C9E8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686800" y="36576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5E8A70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0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Biokineticists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Physios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3200400"/>
            <a:ext cx="1371600" cy="2286000"/>
          </a:xfrm>
          <a:prstGeom prst="line">
            <a:avLst/>
          </a:prstGeom>
          <a:noFill/>
          <a:ln w="12700">
            <a:solidFill>
              <a:srgbClr val="7C9E8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858000" y="50292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5E8A70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5029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Counsellors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Patient-by-patient referral pathway established with a leading pharmacy group.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Breathe, Screen, Live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ALIENTO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Aliento?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5029200" cy="54864"/>
          </a:xfrm>
          <a:prstGeom prst="rect">
            <a:avLst/>
          </a:prstGeom>
          <a:solidFill>
            <a:srgbClr val="3A5E4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Leegale Adonis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in Public Health</a:t>
            </a:r>
            <a:pPr algn="l" indent="0" marL="0">
              <a:lnSpc>
                <a:spcPct val="130000"/>
              </a:lnSpc>
              <a:buNone/>
            </a:pP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8+ years clinical practice experience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Expert in preventative medicine &amp; lifestyle intervention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Established patient-by-patient referral network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Proven track record in employee wellness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828800"/>
            <a:ext cx="5029200" cy="54864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Tech-Enabled Practice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Cal.com booking — instant online scheduling
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 reports &amp; results portal
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Custom-branded employee wellness portal
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outcomes tracking
</a:t>
            </a:r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from 50 to 50,000 employees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Breathe, Screen, Live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5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7315200" cy="7315200"/>
          </a:xfrm>
          <a:prstGeom prst="ellipse">
            <a:avLst/>
          </a:prstGeom>
          <a:solidFill>
            <a:srgbClr val="4A705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5E8A7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the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pilot the Aliento Wellness Screening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A8C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with your organisation.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C9A96E"/>
          </a:solidFill>
          <a:ln/>
          <a:effectLst>
            <a:outerShdw sx="100000" sy="100000" kx="0" ky="0" algn="bl" rotWithShape="0" blurRad="1016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840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Meeting 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Leegale Adonis
</a:t>
            </a:r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C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Aliento Medical
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alientomd.com  |  cal.com/lee-adonis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Breathe, Screen, Live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5E4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173736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37744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0" y="3291840"/>
            <a:ext cx="3047695" cy="0"/>
          </a:xfrm>
          <a:prstGeom prst="line">
            <a:avLst/>
          </a:prstGeom>
          <a:noFill/>
          <a:ln w="12700">
            <a:solidFill>
              <a:srgbClr val="7C9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Leegale Adonis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4023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Aliento Medical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4572000"/>
            <a:ext cx="579089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4572000"/>
            <a:ext cx="5790895" cy="54864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4709160"/>
            <a:ext cx="52422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A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alientomd.com
</a:t>
            </a:r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cal.com/lee-adonis  |  info@alientomd.com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Breathe, Screen, Live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Aliento Employee Wellness Screening</dc:title>
  <dc:subject>Employee Wellness Pitch — Big SA Franchises</dc:subject>
  <dc:creator>Aliento Medical — Dr. Leegale Adonis</dc:creator>
  <cp:lastModifiedBy>Aliento Medical — Dr. Leegale Adonis</cp:lastModifiedBy>
  <cp:revision>1</cp:revision>
  <dcterms:created xsi:type="dcterms:W3CDTF">2026-06-18T09:54:32Z</dcterms:created>
  <dcterms:modified xsi:type="dcterms:W3CDTF">2026-06-18T09:54:32Z</dcterms:modified>
</cp:coreProperties>
</file>