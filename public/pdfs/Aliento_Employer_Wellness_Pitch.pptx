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8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A705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4A705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8FBD9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 HEALTH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 Wellness</a:t>
            </a:r>
            <a:endParaRPr lang="en-US" sz="3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Actually Works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 team access to a real doctor — for less than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 sandwich per person per month.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2743200" cy="640080"/>
          </a:xfrm>
          <a:prstGeom prst="rect">
            <a:avLst/>
          </a:prstGeom>
          <a:solidFill>
            <a:srgbClr val="4A705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R200</a:t>
            </a:r>
            <a:pPr algn="ctr" indent="0" marL="0">
              <a:buNone/>
            </a:pPr>
            <a:r>
              <a:rPr lang="en-US" sz="1300" dirty="0">
                <a:solidFill>
                  <a:srgbClr val="D8EAE0"/>
                </a:solidFill>
              </a:rPr>
              <a:t> / employee / month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Leegale Adonis  •  alientomd.com  •  info@alientomd.com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D8EAE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FDF5F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Millions In Between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1508760"/>
            <a:ext cx="9144000" cy="54864"/>
          </a:xfrm>
          <a:prstGeom prst="rect">
            <a:avLst/>
          </a:prstGeom>
          <a:solidFill>
            <a:srgbClr val="8FBD9F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2468880" cy="73152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3.84M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Africans pay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out-of-pocket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920240"/>
            <a:ext cx="2468880" cy="73152"/>
          </a:xfrm>
          <a:prstGeom prst="rect">
            <a:avLst/>
          </a:prstGeom>
          <a:solidFill>
            <a:srgbClr val="857A6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57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R1,500+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medical aid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employee/month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24688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920240"/>
            <a:ext cx="2468880" cy="73152"/>
          </a:xfrm>
          <a:prstGeom prst="rect">
            <a:avLst/>
          </a:prstGeom>
          <a:solidFill>
            <a:srgbClr val="E09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9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preventive care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visit when already sick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aid is unaffordable. Government clinics are overcrowded. Your employees fall through the cracks.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D8EAE0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FDF5F5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Aliento Employer Wellness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1508760"/>
            <a:ext cx="9144000" cy="54864"/>
          </a:xfrm>
          <a:prstGeom prst="rect">
            <a:avLst/>
          </a:prstGeom>
          <a:solidFill>
            <a:srgbClr val="8FBD9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just R200 per employee per month, your team gets: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201168" cy="201168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virtual consultation per month (R250 value)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201168" cy="201168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access to health content library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201168" cy="201168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reminders — BP, glucose, pap smear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201168" cy="201168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wellness newsletter for your team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201168" cy="201168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WhatsApp access to health guidance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201168" cy="201168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 aid, no paperwork, no queues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1828800"/>
            <a:ext cx="3200400" cy="2560320"/>
          </a:xfrm>
          <a:prstGeom prst="rect">
            <a:avLst/>
          </a:prstGeom>
          <a:solidFill>
            <a:srgbClr val="EEF5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R200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5303520" y="2743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33832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7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R2,400/yr vs R18,000+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A7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aid premium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solidFill>
            <a:srgbClr val="4A705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knowledgeable friend who happens to be a doctor — for your whole team.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No paperwork. No queues.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508760"/>
            <a:ext cx="9144000" cy="54864"/>
          </a:xfrm>
          <a:prstGeom prst="rect">
            <a:avLst/>
          </a:prstGeom>
          <a:solidFill>
            <a:srgbClr val="8FBD9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828800"/>
            <a:ext cx="640080" cy="640080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Sign 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team size.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your company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 under an hour.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640080" cy="640080"/>
          </a:xfrm>
          <a:prstGeom prst="ellipse">
            <a:avLst/>
          </a:prstGeom>
          <a:solidFill>
            <a:srgbClr val="8FBD9F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Employees Register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0632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gets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profile.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onboarding.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40680" y="1828800"/>
            <a:ext cx="640080" cy="640080"/>
          </a:xfrm>
          <a:prstGeom prst="ellipse">
            <a:avLst/>
          </a:prstGeom>
          <a:solidFill>
            <a:srgbClr val="857A6A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Consults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0632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book 15-20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consults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Leegale Adonis.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589520" y="1828800"/>
            <a:ext cx="640080" cy="640080"/>
          </a:xfrm>
          <a:prstGeom prst="ellipse">
            <a:avLst/>
          </a:prstGeom>
          <a:solidFill>
            <a:srgbClr val="E09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2651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Track &amp;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0632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wellness reports.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reminders.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tips for your team.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E8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4A705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4A705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EMPLOYERS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R200, Get Back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 More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E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 Retention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benefits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top-3 retention driver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 employees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56032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E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Absenteeism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337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care catches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early — fewer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days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256032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377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E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out as an employer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actually cares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their people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D8EAE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TARGETING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These Employers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1508760"/>
            <a:ext cx="9144000" cy="54864"/>
          </a:xfrm>
          <a:prstGeom prst="rect">
            <a:avLst/>
          </a:prstGeom>
          <a:solidFill>
            <a:srgbClr val="8FBD9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A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A7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Services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SweepSouth, Tsebo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Fidelity, ADT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1,000–10,000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VIDA, Burger 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Mid-size firms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 / Packhouses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Farms, agri-processing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09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Checkers, Shoprite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1,000–20,000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57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organisations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A70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33E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phase: 5 companies → free 1-month trial (10 employees each) → case study → scale to 50.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Competition. Just Common Sense.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508760"/>
            <a:ext cx="9144000" cy="54864"/>
          </a:xfrm>
          <a:prstGeom prst="rect">
            <a:avLst/>
          </a:prstGeom>
          <a:solidFill>
            <a:srgbClr val="8FBD9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651760" cy="73152"/>
          </a:xfrm>
          <a:prstGeom prst="rect">
            <a:avLst/>
          </a:prstGeom>
          <a:solidFill>
            <a:srgbClr val="857A6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R1,500+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periods + paperwork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828800"/>
            <a:ext cx="2651760" cy="73152"/>
          </a:xfrm>
          <a:prstGeom prst="rect">
            <a:avLst/>
          </a:prstGeom>
          <a:solidFill>
            <a:srgbClr val="E09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R350+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employee/mo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hospital, no GP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2651760" cy="2926080"/>
          </a:xfrm>
          <a:prstGeom prst="rect">
            <a:avLst/>
          </a:prstGeom>
          <a:solidFill>
            <a:srgbClr val="EEF5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828800"/>
            <a:ext cx="2651760" cy="73152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R200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employee/mo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GP access • No waiting • No paperwork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4A7059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R200/mo vs R1,500+ for medical aid. Save R1,300+/employee/month — 87% less.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D8EAE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FDF5F5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Competition: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Discovery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8FBD9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Discovery's Flexi Plan (R599/mo)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product — R599/mo for hospital cover + day-to-day benefits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for SMEs: 20 employees × R599 = R11,980/mo — out of reach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 at R200/emp/mo is complementary, not competitive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SMEs: Aliento for GP access + Discovery for hospital = complete care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2194560"/>
            <a:ext cx="3657600" cy="2011680"/>
          </a:xfrm>
          <a:prstGeom prst="rect">
            <a:avLst/>
          </a:prstGeom>
          <a:solidFill>
            <a:srgbClr val="EEF5F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2194560"/>
            <a:ext cx="3657600" cy="73152"/>
          </a:xfrm>
          <a:prstGeom prst="rect">
            <a:avLst/>
          </a:prstGeom>
          <a:solidFill>
            <a:srgbClr val="5E8A7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8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 Aliento as 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E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Service Provider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0" y="3273552"/>
            <a:ext cx="128016" cy="128016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324612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Aliento GP as Flexi add-on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3511296"/>
            <a:ext cx="128016" cy="128016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348386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layer (us) + hospital (Discovery)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3749040"/>
            <a:ext cx="128016" cy="128016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72160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or per-consult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3986784"/>
            <a:ext cx="128016" cy="128016"/>
          </a:xfrm>
          <a:prstGeom prst="ellipse">
            <a:avLst/>
          </a:prstGeom>
          <a:solidFill>
            <a:srgbClr val="5E8A70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39593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1M+ Flexi members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2E2A2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Two-track strategy: ① Direct-to-SME (R200/emp/mo)  •  ② Discovery partnership (scale to millions)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8A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4A705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8FBD9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OFFER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Free For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Month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5 companies to pilot Aliento Employer Wellness.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53512"/>
            <a:ext cx="182880" cy="182880"/>
          </a:xfrm>
          <a:prstGeom prst="ellipse">
            <a:avLst/>
          </a:prstGeom>
          <a:solidFill>
            <a:srgbClr val="8FBD9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1-month trial for up to 10 employees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82880" cy="182880"/>
          </a:xfrm>
          <a:prstGeom prst="ellipse">
            <a:avLst/>
          </a:prstGeom>
          <a:solidFill>
            <a:srgbClr val="8FBD9F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644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to virtual consultations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21608"/>
            <a:ext cx="182880" cy="182880"/>
          </a:xfrm>
          <a:prstGeom prst="ellipse">
            <a:avLst/>
          </a:prstGeom>
          <a:solidFill>
            <a:srgbClr val="8FBD9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484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onboarding and setup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05656"/>
            <a:ext cx="182880" cy="182880"/>
          </a:xfrm>
          <a:prstGeom prst="ellipse">
            <a:avLst/>
          </a:prstGeom>
          <a:solidFill>
            <a:srgbClr val="8FBD9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03250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wellness report included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489704"/>
            <a:ext cx="182880" cy="182880"/>
          </a:xfrm>
          <a:prstGeom prst="ellipse">
            <a:avLst/>
          </a:prstGeom>
          <a:solidFill>
            <a:srgbClr val="8FBD9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16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commitment — cancel anytime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4114800"/>
            <a:ext cx="3200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41148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10-MIN 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7059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0"/>
            <a:ext cx="4114800" cy="4114800"/>
          </a:xfrm>
          <a:prstGeom prst="ellipse">
            <a:avLst/>
          </a:prstGeom>
          <a:solidFill>
            <a:srgbClr val="4A705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deserves access to a real doctor.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it happen for your team.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4572000" cy="1371600"/>
          </a:xfrm>
          <a:prstGeom prst="rect">
            <a:avLst/>
          </a:prstGeom>
          <a:solidFill>
            <a:srgbClr val="4A705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Leegale Adonis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MBBCH, MBA, FCPHM (SA), MMed, Comm Health, PhD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info@alientomd.com  •  alientomd.com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8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Breathe, Screen, Live  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Aliento Employer Wellness Pitch</dc:title>
  <dc:subject>PptxGenJS Presentation</dc:subject>
  <dc:creator>Dr. Leegale Adonis — Aliento Health</dc:creator>
  <cp:lastModifiedBy>Dr. Leegale Adonis — Aliento Health</cp:lastModifiedBy>
  <cp:revision>1</cp:revision>
  <dcterms:created xsi:type="dcterms:W3CDTF">2026-06-05T19:19:41Z</dcterms:created>
  <dcterms:modified xsi:type="dcterms:W3CDTF">2026-06-05T19:19:41Z</dcterms:modified>
</cp:coreProperties>
</file>